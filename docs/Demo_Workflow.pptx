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P10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30 days</c:v>
                </c:pt>
                <c:pt idx="1">
                  <c:v>60 days</c:v>
                </c:pt>
                <c:pt idx="2">
                  <c:v>90 days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221345</c:v>
                </c:pt>
                <c:pt idx="1">
                  <c:v>655545</c:v>
                </c:pt>
                <c:pt idx="2">
                  <c:v>1142611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4B6-486C-A77F-C9B528F01F6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P50</c:v>
                </c:pt>
              </c:strCache>
            </c:strRef>
          </c:tx>
          <c:spPr>
            <a:solidFill>
              <a:srgbClr val="4C6FE7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30 days</c:v>
                </c:pt>
                <c:pt idx="1">
                  <c:v>60 days</c:v>
                </c:pt>
                <c:pt idx="2">
                  <c:v>90 days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347935</c:v>
                </c:pt>
                <c:pt idx="1">
                  <c:v>887247</c:v>
                </c:pt>
                <c:pt idx="2">
                  <c:v>1484461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4B6-486C-A77F-C9B528F01F6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P90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30 days</c:v>
                </c:pt>
                <c:pt idx="1">
                  <c:v>60 days</c:v>
                </c:pt>
                <c:pt idx="2">
                  <c:v>90 days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560164</c:v>
                </c:pt>
                <c:pt idx="1">
                  <c:v>1219938</c:v>
                </c:pt>
                <c:pt idx="2">
                  <c:v>1914755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4B6-486C-A77F-C9B528F01F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5"/>
              </a:solidFill>
              <a:prstDash val="solid"/>
              <a:round/>
            </a:ln>
          </c:spPr>
        </c:majorGridlines>
        <c:numFmt formatCode="#,##0,,&quot;L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2761"/>
                </a:solidFill>
                <a:latin typeface="Arial"/>
              </a:rPr>
              <a:t>Meta Ads — revenue response to budget multiplier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(P50, 30d)</c:v>
                </c:pt>
              </c:strCache>
            </c:strRef>
          </c:tx>
          <c:spPr>
            <a:ln w="38100" cap="flat">
              <a:solidFill>
                <a:srgbClr val="F97316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0.5×</c:v>
                </c:pt>
                <c:pt idx="1">
                  <c:v>0.75×</c:v>
                </c:pt>
                <c:pt idx="2">
                  <c:v>1.0×</c:v>
                </c:pt>
                <c:pt idx="3">
                  <c:v>1.25×</c:v>
                </c:pt>
                <c:pt idx="4">
                  <c:v>1.5×</c:v>
                </c:pt>
                <c:pt idx="5">
                  <c:v>2.0×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24500</c:v>
                </c:pt>
                <c:pt idx="1">
                  <c:v>33800</c:v>
                </c:pt>
                <c:pt idx="2">
                  <c:v>41200</c:v>
                </c:pt>
                <c:pt idx="3">
                  <c:v>47900</c:v>
                </c:pt>
                <c:pt idx="4">
                  <c:v>53800</c:v>
                </c:pt>
                <c:pt idx="5">
                  <c:v>63900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43B-4675-8704-1CA087C847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9F5"/>
              </a:solidFill>
              <a:prstDash val="solid"/>
              <a:round/>
            </a:ln>
          </c:spPr>
        </c:majorGridlines>
        <c:numFmt formatCode="#,##0,&quot;K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30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64008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</a:rPr>
              <a:t>AIGNITION 3.0  ·  NETELIXIR HACKATHON SUBMISSION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Revenue Forecasting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E-commerce Marketing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</a:rPr>
              <a:t>Demo Workflow  ·  Data ingestion → Forecast generation → Budget simulation → AI-generated insights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709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Ad channels unified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4709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9184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Forecast segments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4709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30/60/90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94360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Day planning horizons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595360" y="4709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595360" y="53492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External API calls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stages, one continuous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7FE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37033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Auto-detect &amp; unify Google / Meta / Microsoft Ads CSVs, validate campaign consistency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63824" y="352044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C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410712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7FE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639312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593592" y="30632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Generation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37033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Trend + seasonality + spend-elasticity fit; Monte Carlo P10/P50/P90 simulation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25896" y="352044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C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272784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7FE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501384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01384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55664" y="30632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Simulation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55664" y="37033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What-if future daily-budget slider, revenue &amp; ROAS response curve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887968" y="3520440"/>
            <a:ext cx="2377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5B6B8C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134856" y="2011680"/>
            <a:ext cx="2606040" cy="3566160"/>
          </a:xfrm>
          <a:prstGeom prst="roundRect">
            <a:avLst>
              <a:gd name="adj" fmla="val 2807"/>
            </a:avLst>
          </a:prstGeom>
          <a:solidFill>
            <a:srgbClr val="F4F7FE"/>
          </a:solidFill>
          <a:ln/>
          <a:effectLst>
            <a:outerShdw blurRad="76200" dist="254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363456" y="22860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9363456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317736" y="30632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AI-Generated Insights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317736" y="37033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2E"/>
                </a:solidFill>
              </a:rPr>
              <a:t>Offline statistical reasoning layer produces plain-English causal summaries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</a:rPr>
              <a:t>Same src/ modules power both the graded run.sh batch pipeline and this interactive Streamlit prototype.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Ingestion &amp; Campaign-Consistency Validation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F4F7F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</a:rPr>
              <a:t>Unified across three native schemas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752344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2432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Google Ads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17520" y="262432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</a:rPr>
              <a:t>metrics_conversions_value → revenue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319272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3191256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Microsoft (Bing) Ads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191256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</a:rPr>
              <a:t>Revenue field used directly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86200"/>
            <a:ext cx="109728" cy="109728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758184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Meta Ads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17520" y="375818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</a:rPr>
              <a:t>conversion field (currency value) → revenue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4535424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→ 25,562 rows  ·  136 campaigns  ·  Jan 2024 – Jun 2026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5038344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i="1" dirty="0">
                <a:solidFill>
                  <a:srgbClr val="5B6B8C"/>
                </a:solidFill>
              </a:rPr>
              <a:t>Files are discovered by filename pattern, not hardcoded — the pipeline works unmodified against the grading harness's held-out test data.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196596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2194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Validation report (auto-generated every run)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37960" y="278892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03720" y="27889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Campaign ID → single name/type consistency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3273552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03720" y="327355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Duplicate campaign/date rows (summed, not double-counted)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37960" y="3758184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903720" y="37581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Negative spend or revenue (clipped to zero)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37960" y="4242816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03720" y="4242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Spend recorded with zero impressions (tracking-gap flag)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4727448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47274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Date gaps inside a campaign's active window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37960" y="5212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EE7B7"/>
                </a:solidFill>
              </a:rPr>
              <a:t>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903720" y="52120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</a:rPr>
              <a:t>Missing daily-budget values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Probabilistic Forecast Generation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Google Ads — revenue forecast by horizon (₹, P10 / P50 / P90)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240280"/>
          <a:ext cx="69494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818120" y="1828800"/>
            <a:ext cx="3840480" cy="4160520"/>
          </a:xfrm>
          <a:prstGeom prst="roundRect">
            <a:avLst>
              <a:gd name="adj" fmla="val 1905"/>
            </a:avLst>
          </a:prstGeom>
          <a:solidFill>
            <a:srgbClr val="F4F7FE"/>
          </a:solidFill>
          <a:ln/>
        </p:spPr>
      </p:sp>
      <p:sp>
        <p:nvSpPr>
          <p:cNvPr id="7" name="Text 4"/>
          <p:cNvSpPr/>
          <p:nvPr/>
        </p:nvSpPr>
        <p:spPr>
          <a:xfrm>
            <a:off x="8046720" y="20116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</a:rPr>
              <a:t>How the range is built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0" y="2514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•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75320" y="2514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Trend + seasonality fit per segment (weekly grain)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46720" y="32004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•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275320" y="32004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Spend-response elasticity curve (diminishing returns)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046720" y="38862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•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75320" y="38862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2,000-path Monte Carlo simulation over the horizon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046720" y="45720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•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75320" y="45720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P10/P50/P90 read directly off the simulated distribution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046720" y="534924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i="1" dirty="0">
                <a:solidFill>
                  <a:srgbClr val="5B6B8C"/>
                </a:solidFill>
              </a:rPr>
              <a:t>Same engine runs at channel, campaign-type, and individual-campaign grain — 459 forecast rows produced in this sample run.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Media-Budget Simulation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</a:rPr>
              <a:t>"What happens if I spend 1.5× on Meta Ads?" — the elasticity curve answers in real time.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548640" y="2286000"/>
          <a:ext cx="630936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7086600" y="2286000"/>
            <a:ext cx="4572000" cy="3657600"/>
          </a:xfrm>
          <a:prstGeom prst="roundRect">
            <a:avLst>
              <a:gd name="adj" fmla="val 2000"/>
            </a:avLst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7360920" y="24688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Reading the curve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60920" y="29718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B2FF"/>
                </a:solidFill>
              </a:rPr>
              <a:t>Elasticity ≈ 0.97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60920" y="326440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Meta Ads is close to linear response — scaling budget is currently efficient.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360920" y="39319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B2FF"/>
                </a:solidFill>
              </a:rPr>
              <a:t>Elasticity ≈ 0.05 (Bing)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7360920" y="42245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Near-saturated: extra budget adds little incremental revenue — a segment to review before scaling.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60920" y="4892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B2FF"/>
                </a:solidFill>
              </a:rPr>
              <a:t>ROAS trade-off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7360920" y="518464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The tool flags when scaling revenue would dilute blended ROAS below the account's historical baseline.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Causal Summaries &amp; Anomaly Flags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109960" cy="1783080"/>
          </a:xfrm>
          <a:prstGeom prst="roundRect">
            <a:avLst>
              <a:gd name="adj" fmla="val 4103"/>
            </a:avLst>
          </a:prstGeom>
          <a:solidFill>
            <a:srgbClr val="F4F7FE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03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</a:rPr>
              <a:t>Sample generated summary — Microsoft (Bing) Ads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10561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A1A2E"/>
                </a:solidFill>
              </a:rPr>
              <a:t>“Microsoft Ads revenue has been growing at an average of +1.0% per week. Spend-response elasticity is low (0.05), indicating this segment is close to saturation — additional budget is likely to erode blended ROAS faster than it adds revenue. Trailing average ROAS for this segment is 1.47x.”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41605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2FF"/>
                </a:solidFill>
              </a:rPr>
              <a:t>Trend attribution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4663440"/>
            <a:ext cx="23682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Growing / flat / declining, quantified as a weekly % rate, per segment.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977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41605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2FF"/>
                </a:solidFill>
              </a:rPr>
              <a:t>Elasticity read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3592" y="4663440"/>
            <a:ext cx="23682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Efficient vs. near-saturated framing, tied to the fitted spend-response curve.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3977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73952" y="41605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2FF"/>
                </a:solidFill>
              </a:rPr>
              <a:t>Anomaly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73952" y="4663440"/>
            <a:ext cx="23682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Z-score vs. 8-week rolling mean flags unusual weeks for manual review.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9720" y="3977640"/>
            <a:ext cx="2697480" cy="1965960"/>
          </a:xfrm>
          <a:prstGeom prst="roundRect">
            <a:avLst>
              <a:gd name="adj" fmla="val 3721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9354312" y="4160520"/>
            <a:ext cx="23682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B2FF"/>
                </a:solidFill>
              </a:rPr>
              <a:t>Zero external calls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354312" y="4663440"/>
            <a:ext cx="2368296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</a:rPr>
              <a:t>Deterministic, offline, auditable — every sentence traces to a computed statistic.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Mapped to the Published Evaluation Criteria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Technical Soundness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11880" y="205740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Trend + seasonality + elasticity decomposition; Monte Carlo P10/P50/P90 uncertainty, not point guesses.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852928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94436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Practical Relevance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11880" y="2944368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Channel / campaign-type / campaign grain; budget what-if slider mirrors real agency planning conversations.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739896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83133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AI Integration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3831336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Offline causal-summary &amp; anomaly layer; explicit, honest disclosure of the no-external-API design choice.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626864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71830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Product Thinking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11880" y="4718304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One four-tab workflow doubling as the demo script; plain-English output, not raw model internals.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513832"/>
            <a:ext cx="11109960" cy="777240"/>
          </a:xfrm>
          <a:prstGeom prst="roundRect">
            <a:avLst>
              <a:gd name="adj" fmla="val 7059"/>
            </a:avLst>
          </a:prstGeom>
          <a:solidFill>
            <a:srgbClr val="F4F7FE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5605272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</a:rPr>
              <a:t>Engineering Quality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11880" y="5605272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1A1A2E"/>
                </a:solidFill>
              </a:rPr>
              <a:t>run.sh contract verified end-to-end on resampled held-out data; pinned deps; zero network calls.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61288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C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40080" y="1463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is reproducible from one command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7772400" cy="685800"/>
          </a:xfrm>
          <a:prstGeom prst="roundRect">
            <a:avLst>
              <a:gd name="adj" fmla="val 10667"/>
            </a:avLst>
          </a:prstGeom>
          <a:solidFill>
            <a:srgbClr val="141B4D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3317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./run.sh ./data ./pickle/model.pkl ./output/predictions.csv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338328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</a:rPr>
              <a:t>run.sh — required entry point, zero manual steps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85876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85876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</a:rPr>
              <a:t>pickle/model.pkl — pre-trained, committed, never retrained at grading time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334256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433425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</a:rPr>
              <a:t>docs/ — Technical Documentation, Architecture Overview, this Demo Workflow deck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809744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7316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480974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</a:rPr>
              <a:t>app.py — this walkthrough, live and interactive (streamlit run app.py)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783</Words>
  <Application>Microsoft Office PowerPoint</Application>
  <PresentationFormat>Widescreen</PresentationFormat>
  <Paragraphs>126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MUDIT KHATER</cp:lastModifiedBy>
  <cp:revision>2</cp:revision>
  <dcterms:created xsi:type="dcterms:W3CDTF">2026-07-13T18:53:27Z</dcterms:created>
  <dcterms:modified xsi:type="dcterms:W3CDTF">2026-07-14T05:57:55Z</dcterms:modified>
</cp:coreProperties>
</file>